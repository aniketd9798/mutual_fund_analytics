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4E5D-71F9-DC76-FCC6-F256C335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13D25-B947-6A04-71F2-D4023D914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0BF5E-4C0A-E23D-6BF8-A26BB841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98D9E-3AF2-44F7-25D0-E5F1BBE9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60966-F6D6-838B-159F-4ED58E1B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5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38A9-37DB-3443-94DF-9C9272D8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C6D99-518C-CDC7-5AEA-4920E9E2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453B2-F4DE-7039-86EE-0FA369EC7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67DD1-8AE1-4F21-C222-593033E1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55583-F5B7-E235-FF16-2AB549C8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08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04AB-1B62-C248-256E-DC7C7D5F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1846E-23EB-675B-DC46-EAB99025D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3593A-A2C0-7A45-44D1-32D6B554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2AA8-021E-BA75-C17E-68DA1ED3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4A0EF-7428-7354-B230-7799788F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2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DE5E-F2D6-53BE-C012-2663624E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5114-66C3-6C29-05A0-B867D6D21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27804-578E-9AB9-81EB-1BF86531C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84E07-0D31-F815-E4BF-B070ADDF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D8809-17E6-BECF-710C-0EF7FBF7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92D5D-5E7F-8E1F-4B76-29B4183B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6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8C97-CB22-9440-5844-80F3659D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B2461-9AF4-2D33-29D1-F84359949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4097C-E2A8-F505-772B-817DFD47F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DE057-C1D0-822F-0ADF-C87769BCF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598AB-1F0E-AC1E-592B-7E6E2284D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35214-12C9-B108-115C-AFCCD119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5A1772-B835-1D73-1917-8F26C467F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EE7881-F5D1-15EE-1A53-E36C65AB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87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D67C-BE53-6DBF-6452-8A47CD655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7A1FB-2F1E-1AFF-1FA1-9F0E44F2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376D3-124C-BA77-E36D-868D8519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86804-E2DF-677D-6D26-DF7768A7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67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E8C54-D3DD-D526-039D-28BA40C0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52EE6-FC6E-0B4C-160F-397167C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989C-4B06-2830-14F8-21B9FE6C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5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0D0B-A885-D78B-9081-93DAA2088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9B8A2-9D73-ADDF-1024-2F2B7508B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50934-B910-D78B-B12A-0E31C3658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01FF8-7515-2F8F-6B36-B95C4F12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66A4-EEDE-7476-C32D-41958B07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C066E-6C81-E2AE-ABC9-E3B38F84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724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2BD6-E910-551D-34AD-E2237CC9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8C2C4-27F2-5D9C-FABA-75AFFF8898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8EC03-103B-7D55-49CC-BA7C05EC1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5A7B4-A05D-F681-A660-947700A2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B8933-28FA-B629-55B4-79CCAAE4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20838-25F4-4ED5-1D69-E247767E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96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C4642-5932-353A-0DB0-B1C77412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6AAEE-663B-EA24-8DC2-54576AD30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3AE67-4788-5D64-2F06-D30A5D34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A0C84-158A-3DC8-68E0-4180DAFF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430D-2AAF-5C15-EDCF-ED7EA9C6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9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397CD0-ABBD-F88A-CBEA-B1F2602176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B6F5B-9AC4-374B-2630-25539C22A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1327C-7F47-564F-883D-AAF985AE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EEC8A-7D71-7E2A-B2A6-5EE3753D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BB5AC-0843-F669-20B4-DCD65E51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056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081D7-60F9-AB44-25BB-77C6D177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1E56-46F8-3D23-8AC0-5FE6D2DB7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C1C00-8D69-FDE2-F484-9CB7F191E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CDEC7-DB3D-4C7E-8B5C-34D83CBBEE27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D12B0-BE96-EB29-F0E0-251E42FF2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04425-0D9A-6746-84C3-6861E700E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4BBBC-BB37-4E13-A7AF-40BEA556E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98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431F-E3AC-1D77-1D21-7B9895490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9593" y="1600200"/>
            <a:ext cx="2472813" cy="540621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BLUESTOCK FINTECH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7FC1C-0366-8BBC-8800-336E1365F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9586" y="2458064"/>
            <a:ext cx="9212826" cy="2711245"/>
          </a:xfrm>
        </p:spPr>
        <p:txBody>
          <a:bodyPr>
            <a:normAutofit/>
          </a:bodyPr>
          <a:lstStyle/>
          <a:p>
            <a:r>
              <a:rPr lang="en-IN" b="1" dirty="0"/>
              <a:t>Prepared By:</a:t>
            </a:r>
            <a:r>
              <a:rPr lang="en-IN" dirty="0"/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Aniket Dhumal</a:t>
            </a: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b="1" dirty="0"/>
              <a:t>Technology Stack:</a:t>
            </a:r>
            <a:r>
              <a:rPr lang="en-IN" dirty="0"/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Python | SQLite | Power BI | Pandas | Plotly</a:t>
            </a: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b="1" dirty="0"/>
              <a:t>Date:</a:t>
            </a:r>
            <a:r>
              <a:rPr lang="en-IN" dirty="0"/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June 2026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4650C-E4D6-4A3F-47D3-3F8FB79F3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490" y="322059"/>
            <a:ext cx="1347020" cy="139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3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4E9931-1831-469A-166A-84A605E82EBE}"/>
              </a:ext>
            </a:extLst>
          </p:cNvPr>
          <p:cNvSpPr txBox="1"/>
          <p:nvPr/>
        </p:nvSpPr>
        <p:spPr>
          <a:xfrm>
            <a:off x="3903407" y="297980"/>
            <a:ext cx="4227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Problem Statement &amp;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088EB-A61E-4AE4-646B-D4635717D2C2}"/>
              </a:ext>
            </a:extLst>
          </p:cNvPr>
          <p:cNvSpPr txBox="1"/>
          <p:nvPr/>
        </p:nvSpPr>
        <p:spPr>
          <a:xfrm>
            <a:off x="894736" y="997565"/>
            <a:ext cx="106680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IN" sz="1600" dirty="0"/>
              <a:t>The mutual fund industry offers thousands of investment schemes across different categories, making fund selection a challenging task for investors. Most investors focus primarily on historical returns while ignoring important factors such as risk, volatility, portfolio diversification, and benchmark performance. Additionally, investor </a:t>
            </a:r>
            <a:r>
              <a:rPr lang="en-IN" sz="1600" dirty="0" err="1"/>
              <a:t>behavior</a:t>
            </a:r>
            <a:r>
              <a:rPr lang="en-IN" sz="1600" dirty="0"/>
              <a:t> patterns and industry trends are often scattered across multiple data sources, making comprehensive analysis difficult. Therefore, there is a need for a centralized analytics platform that can evaluate fund performance, measure risk, </a:t>
            </a:r>
            <a:r>
              <a:rPr lang="en-IN" sz="1600" dirty="0" err="1"/>
              <a:t>analyze</a:t>
            </a:r>
            <a:r>
              <a:rPr lang="en-IN" sz="1600" dirty="0"/>
              <a:t> investor </a:t>
            </a:r>
            <a:r>
              <a:rPr lang="en-IN" sz="1600" dirty="0" err="1"/>
              <a:t>behavior</a:t>
            </a:r>
            <a:r>
              <a:rPr lang="en-IN" sz="1600" dirty="0"/>
              <a:t>, and provide actionable insights for informed investment decisions.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DE8B8-C74A-8810-E1F5-607C4A47B849}"/>
              </a:ext>
            </a:extLst>
          </p:cNvPr>
          <p:cNvSpPr txBox="1"/>
          <p:nvPr/>
        </p:nvSpPr>
        <p:spPr>
          <a:xfrm>
            <a:off x="894736" y="3549444"/>
            <a:ext cx="1051068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Project Objectives</a:t>
            </a:r>
          </a:p>
          <a:p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Build an end-to-end Mutual Fund Analytics platform.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Design an ETL pipeline for data ingestion, cleaning, and storage.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Perform Exploratory Data Analysis (EDA) to identify industry and investor trends.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Calculate performance metrics such as CAGR, Sharpe Ratio, Alpha, Beta, and Drawdown.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Conduct advanced analytics including </a:t>
            </a:r>
            <a:r>
              <a:rPr lang="en-IN" dirty="0" err="1"/>
              <a:t>VaR</a:t>
            </a:r>
            <a:r>
              <a:rPr lang="en-IN" dirty="0"/>
              <a:t>, CVaR, Cohort Analysis, SIP Continuity, and HHI.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Develop an interactive Power BI dashboard for visualization and decision support.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Create a risk-based mutual fund recommendation engine.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84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63C75-F118-3B62-E7EC-02D297EE3450}"/>
              </a:ext>
            </a:extLst>
          </p:cNvPr>
          <p:cNvSpPr txBox="1"/>
          <p:nvPr/>
        </p:nvSpPr>
        <p:spPr>
          <a:xfrm>
            <a:off x="4930877" y="432619"/>
            <a:ext cx="2330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Data Sources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920C3B-42EE-5CCA-B76C-580F3D013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13242"/>
              </p:ext>
            </p:extLst>
          </p:nvPr>
        </p:nvGraphicFramePr>
        <p:xfrm>
          <a:off x="838200" y="1713818"/>
          <a:ext cx="10515600" cy="406453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049013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4180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3891749"/>
                    </a:ext>
                  </a:extLst>
                </a:gridCol>
              </a:tblGrid>
              <a:tr h="396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835832"/>
                  </a:ext>
                </a:extLst>
              </a:tr>
              <a:tr h="693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Fund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Scheme details, category, fund house, risk 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reference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729098"/>
                  </a:ext>
                </a:extLst>
              </a:tr>
              <a:tr h="396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NAV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Historical daily NAV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 &amp; performance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799547"/>
                  </a:ext>
                </a:extLst>
              </a:tr>
              <a:tr h="396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Investor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SIP, Lumpsum, Redemption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Investor behavior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276754"/>
                  </a:ext>
                </a:extLst>
              </a:tr>
              <a:tr h="693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Portfolio Holdings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Stock-level fund holdings and sector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Diversification &amp; HHI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682062"/>
                  </a:ext>
                </a:extLst>
              </a:tr>
              <a:tr h="693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Industry 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Industry Assets Under Management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Industry growth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519442"/>
                  </a:ext>
                </a:extLst>
              </a:tr>
              <a:tr h="396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SIP Inflows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Monthly SIP contribution 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SIP trend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167635"/>
                  </a:ext>
                </a:extLst>
              </a:tr>
              <a:tr h="396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Benchmark Indices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Nifty 50 &amp; Nifty 100 index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Benchmark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2021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BED899-750F-5E70-81E2-351A7763BA81}"/>
              </a:ext>
            </a:extLst>
          </p:cNvPr>
          <p:cNvSpPr txBox="1"/>
          <p:nvPr/>
        </p:nvSpPr>
        <p:spPr>
          <a:xfrm>
            <a:off x="641555" y="1079644"/>
            <a:ext cx="3441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Datasets Used in the Project</a:t>
            </a:r>
          </a:p>
        </p:txBody>
      </p:sp>
    </p:spTree>
    <p:extLst>
      <p:ext uri="{BB962C8B-B14F-4D97-AF65-F5344CB8AC3E}">
        <p14:creationId xmlns:p14="http://schemas.microsoft.com/office/powerpoint/2010/main" val="122397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7AEA8-BF7A-68FA-A8FD-93920AAEE414}"/>
              </a:ext>
            </a:extLst>
          </p:cNvPr>
          <p:cNvSpPr txBox="1"/>
          <p:nvPr/>
        </p:nvSpPr>
        <p:spPr>
          <a:xfrm>
            <a:off x="4753897" y="336444"/>
            <a:ext cx="2684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Project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17625-A823-8102-1A3B-D246B6C87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008" y="971270"/>
            <a:ext cx="9227984" cy="542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7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E5138-05B0-5FA3-7C46-13B8C03F97A4}"/>
              </a:ext>
            </a:extLst>
          </p:cNvPr>
          <p:cNvSpPr txBox="1"/>
          <p:nvPr/>
        </p:nvSpPr>
        <p:spPr>
          <a:xfrm>
            <a:off x="4650658" y="306947"/>
            <a:ext cx="2890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EDA Highlights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43ACB-1A77-D11D-01AE-D5E89AC02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8" y="961211"/>
            <a:ext cx="5535562" cy="3178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B19AEA-7565-F64A-1C27-290B4168A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348" y="961211"/>
            <a:ext cx="6099618" cy="31781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0FB047-20F5-0202-9843-FA328190CD66}"/>
              </a:ext>
            </a:extLst>
          </p:cNvPr>
          <p:cNvSpPr txBox="1"/>
          <p:nvPr/>
        </p:nvSpPr>
        <p:spPr>
          <a:xfrm>
            <a:off x="255638" y="4393535"/>
            <a:ext cx="553556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Industry AUM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Assets Under Management (AUM) increased consistently from 2022 to 2025 across all major fund houses.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SBI Mutual Fund remained the largest AMC throughout the analysis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ICICI Prudential MF and HDFC Mutual Fund showed strong year-on-year growth.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steady increase in AUM reflects growing investor confidence in mutual fund investments.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7BB71-ADA1-66AE-42C2-0B3375868EAB}"/>
              </a:ext>
            </a:extLst>
          </p:cNvPr>
          <p:cNvSpPr txBox="1"/>
          <p:nvPr/>
        </p:nvSpPr>
        <p:spPr>
          <a:xfrm>
            <a:off x="5958348" y="4408923"/>
            <a:ext cx="609961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SIP Inflow Trend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Monthly SIP inflows increased from approximately ₹11,500 Cr in January 2022 to ₹31,002 Cr in December 2025.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SIP contributions nearly tripled during the analysis period.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Despite market fluctuations, retail investors continued systematic investments.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The all-time high SIP inflow of ₹31,002 Cr highlights the increasing adoption of disciplined investment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0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20330-4ADF-25BE-89A4-CA191EBC4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54" y="383458"/>
            <a:ext cx="5495850" cy="3116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FF9EAA-274A-3873-9A4C-5C89BF6C8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684" y="383458"/>
            <a:ext cx="5987462" cy="31168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A6DE0E-E026-6AD3-01BE-532BCA25C3F4}"/>
              </a:ext>
            </a:extLst>
          </p:cNvPr>
          <p:cNvSpPr txBox="1"/>
          <p:nvPr/>
        </p:nvSpPr>
        <p:spPr>
          <a:xfrm>
            <a:off x="265854" y="3834581"/>
            <a:ext cx="54958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Folio Count 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Analysis</a:t>
            </a:r>
          </a:p>
          <a:p>
            <a:pPr algn="just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Industry folio count increased from approximately </a:t>
            </a:r>
            <a:r>
              <a:rPr lang="en-IN" b="1" dirty="0"/>
              <a:t>13 Cr to 26 Cr</a:t>
            </a:r>
            <a:r>
              <a:rPr lang="en-IN" dirty="0"/>
              <a:t> between 2022 and 2025.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Number of investor accounts nearly doubled.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Growth reflects increasing awareness and adoption of mutual fund investments.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290BD-D5A7-A202-7394-265C780B50B4}"/>
              </a:ext>
            </a:extLst>
          </p:cNvPr>
          <p:cNvSpPr txBox="1"/>
          <p:nvPr/>
        </p:nvSpPr>
        <p:spPr>
          <a:xfrm>
            <a:off x="5869858" y="3834581"/>
            <a:ext cx="598746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State-wise SIP Analysis</a:t>
            </a:r>
          </a:p>
          <a:p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Investment participation varied across states.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Punjab, Tamil Nadu, and Madhya Pradesh recorded higher SIP contributions.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Geographic diversification highlights nationwide mutual fund adoption.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614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12F12D-2FF6-CAEA-B412-DB2AC355523E}"/>
              </a:ext>
            </a:extLst>
          </p:cNvPr>
          <p:cNvSpPr txBox="1"/>
          <p:nvPr/>
        </p:nvSpPr>
        <p:spPr>
          <a:xfrm>
            <a:off x="4237703" y="287282"/>
            <a:ext cx="3716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Fund Performance Analytics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32A06E-F3FF-83A8-2673-D2E2C1F55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396292"/>
              </p:ext>
            </p:extLst>
          </p:nvPr>
        </p:nvGraphicFramePr>
        <p:xfrm>
          <a:off x="324465" y="1474839"/>
          <a:ext cx="11543070" cy="195416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847690">
                  <a:extLst>
                    <a:ext uri="{9D8B030D-6E8A-4147-A177-3AD203B41FA5}">
                      <a16:colId xmlns:a16="http://schemas.microsoft.com/office/drawing/2014/main" val="2964399380"/>
                    </a:ext>
                  </a:extLst>
                </a:gridCol>
                <a:gridCol w="3847690">
                  <a:extLst>
                    <a:ext uri="{9D8B030D-6E8A-4147-A177-3AD203B41FA5}">
                      <a16:colId xmlns:a16="http://schemas.microsoft.com/office/drawing/2014/main" val="1349587668"/>
                    </a:ext>
                  </a:extLst>
                </a:gridCol>
                <a:gridCol w="3847690">
                  <a:extLst>
                    <a:ext uri="{9D8B030D-6E8A-4147-A177-3AD203B41FA5}">
                      <a16:colId xmlns:a16="http://schemas.microsoft.com/office/drawing/2014/main" val="1857258379"/>
                    </a:ext>
                  </a:extLst>
                </a:gridCol>
              </a:tblGrid>
              <a:tr h="488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Return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Risk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Risk-Adjusted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521479"/>
                  </a:ext>
                </a:extLst>
              </a:tr>
              <a:tr h="488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CAGR (1Y, 3Y, 5Y)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Sharpe 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83494"/>
                  </a:ext>
                </a:extLst>
              </a:tr>
              <a:tr h="488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Benchmark 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Maximum Drawdown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Sortino 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801352"/>
                  </a:ext>
                </a:extLst>
              </a:tr>
              <a:tr h="488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Growth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Volatility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Alpha &amp; Beta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83792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A52A85-5023-111C-6CD3-0ACFDB24A5BF}"/>
              </a:ext>
            </a:extLst>
          </p:cNvPr>
          <p:cNvSpPr txBox="1"/>
          <p:nvPr/>
        </p:nvSpPr>
        <p:spPr>
          <a:xfrm>
            <a:off x="403122" y="933840"/>
            <a:ext cx="4168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Performance Evaluation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AC16BA-1B5F-5B0D-6EF5-C4EFA5973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264" y="3600666"/>
            <a:ext cx="6666271" cy="30777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4FD02B-52DF-6C00-F668-7AA207485B0B}"/>
              </a:ext>
            </a:extLst>
          </p:cNvPr>
          <p:cNvSpPr txBox="1"/>
          <p:nvPr/>
        </p:nvSpPr>
        <p:spPr>
          <a:xfrm>
            <a:off x="324465" y="3600666"/>
            <a:ext cx="4876799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Key Performance Metrics</a:t>
            </a:r>
          </a:p>
          <a:p>
            <a:pPr algn="just"/>
            <a:r>
              <a:rPr lang="en-IN" sz="1600" b="1" dirty="0"/>
              <a:t>1.CAGR (1Y, 3Y, 5Y)</a:t>
            </a:r>
            <a:endParaRPr lang="en-IN" sz="1600" dirty="0"/>
          </a:p>
          <a:p>
            <a:pPr algn="just"/>
            <a:r>
              <a:rPr lang="en-IN" sz="1600" dirty="0"/>
              <a:t>Measures long-term growth and compounding returns. </a:t>
            </a:r>
          </a:p>
          <a:p>
            <a:pPr algn="just"/>
            <a:r>
              <a:rPr lang="en-IN" sz="1600" b="1" dirty="0"/>
              <a:t>2.Alpha &amp; Beta Analysis</a:t>
            </a:r>
            <a:endParaRPr lang="en-IN" sz="1600" dirty="0"/>
          </a:p>
          <a:p>
            <a:pPr algn="just"/>
            <a:r>
              <a:rPr lang="en-IN" sz="1600" dirty="0"/>
              <a:t>Alpha indicates benchmark outperformance. </a:t>
            </a:r>
          </a:p>
          <a:p>
            <a:pPr algn="just"/>
            <a:r>
              <a:rPr lang="en-IN" sz="1600" dirty="0"/>
              <a:t>Beta measures market sensitivity and volatility. </a:t>
            </a:r>
          </a:p>
          <a:p>
            <a:pPr algn="just"/>
            <a:r>
              <a:rPr lang="en-IN" sz="1600" b="1" dirty="0"/>
              <a:t>3.Sharpe &amp; Sortino Ratio</a:t>
            </a:r>
            <a:endParaRPr lang="en-IN" sz="1600" dirty="0"/>
          </a:p>
          <a:p>
            <a:pPr algn="just"/>
            <a:r>
              <a:rPr lang="en-IN" sz="1600" dirty="0"/>
              <a:t>Evaluates risk-adjusted returns. </a:t>
            </a:r>
          </a:p>
          <a:p>
            <a:pPr algn="just"/>
            <a:r>
              <a:rPr lang="en-IN" sz="1600" dirty="0"/>
              <a:t>Sortino focuses specifically on downside risk. </a:t>
            </a:r>
          </a:p>
          <a:p>
            <a:pPr algn="just"/>
            <a:r>
              <a:rPr lang="en-IN" sz="1600" b="1" dirty="0"/>
              <a:t>4.Maximum Drawdown</a:t>
            </a:r>
            <a:endParaRPr lang="en-IN" sz="1600" dirty="0"/>
          </a:p>
          <a:p>
            <a:pPr algn="just"/>
            <a:r>
              <a:rPr lang="en-IN" sz="1600" dirty="0"/>
              <a:t>Measures the largest decline from peak to trough. </a:t>
            </a:r>
          </a:p>
          <a:p>
            <a:pPr algn="just"/>
            <a:r>
              <a:rPr lang="en-IN" sz="1600" dirty="0"/>
              <a:t>Indicates downside risk during market corrections.</a:t>
            </a:r>
          </a:p>
        </p:txBody>
      </p:sp>
    </p:spTree>
    <p:extLst>
      <p:ext uri="{BB962C8B-B14F-4D97-AF65-F5344CB8AC3E}">
        <p14:creationId xmlns:p14="http://schemas.microsoft.com/office/powerpoint/2010/main" val="318597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B9E827-4D39-766E-9549-5F53999953BB}"/>
              </a:ext>
            </a:extLst>
          </p:cNvPr>
          <p:cNvSpPr txBox="1"/>
          <p:nvPr/>
        </p:nvSpPr>
        <p:spPr>
          <a:xfrm>
            <a:off x="727588" y="533088"/>
            <a:ext cx="4601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Benchmark Return Analysis Framework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5293EE-50BB-655C-3731-EA7498940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676148"/>
              </p:ext>
            </p:extLst>
          </p:nvPr>
        </p:nvGraphicFramePr>
        <p:xfrm>
          <a:off x="412955" y="1130709"/>
          <a:ext cx="10830234" cy="168481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610078">
                  <a:extLst>
                    <a:ext uri="{9D8B030D-6E8A-4147-A177-3AD203B41FA5}">
                      <a16:colId xmlns:a16="http://schemas.microsoft.com/office/drawing/2014/main" val="1995839930"/>
                    </a:ext>
                  </a:extLst>
                </a:gridCol>
                <a:gridCol w="3610078">
                  <a:extLst>
                    <a:ext uri="{9D8B030D-6E8A-4147-A177-3AD203B41FA5}">
                      <a16:colId xmlns:a16="http://schemas.microsoft.com/office/drawing/2014/main" val="3460195134"/>
                    </a:ext>
                  </a:extLst>
                </a:gridCol>
                <a:gridCol w="3610078">
                  <a:extLst>
                    <a:ext uri="{9D8B030D-6E8A-4147-A177-3AD203B41FA5}">
                      <a16:colId xmlns:a16="http://schemas.microsoft.com/office/drawing/2014/main" val="1084314599"/>
                    </a:ext>
                  </a:extLst>
                </a:gridCol>
              </a:tblGrid>
              <a:tr h="421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Benchmark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Market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Fund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621511"/>
                  </a:ext>
                </a:extLst>
              </a:tr>
              <a:tr h="421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Nifty 50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 Trend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Alpha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903225"/>
                  </a:ext>
                </a:extLst>
              </a:tr>
              <a:tr h="421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Nifty 100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Relative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Outperformance Assessment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266869"/>
                  </a:ext>
                </a:extLst>
              </a:tr>
              <a:tr h="421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Fund vs Benchmark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Growth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Investment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63074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82E0759-8139-E643-2D00-B38DB1A9A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085" y="3013031"/>
            <a:ext cx="5934479" cy="35844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91EBD6-A637-58FA-98F8-9B2AB5248301}"/>
              </a:ext>
            </a:extLst>
          </p:cNvPr>
          <p:cNvSpPr txBox="1"/>
          <p:nvPr/>
        </p:nvSpPr>
        <p:spPr>
          <a:xfrm>
            <a:off x="412955" y="3013031"/>
            <a:ext cx="472931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Key Benchmark Metrics</a:t>
            </a:r>
          </a:p>
          <a:p>
            <a:pPr algn="just"/>
            <a:r>
              <a:rPr lang="en-IN" sz="1600" b="1" dirty="0"/>
              <a:t>1.Nifty 50 Benchmark</a:t>
            </a:r>
            <a:endParaRPr lang="en-IN" sz="1600" dirty="0"/>
          </a:p>
          <a:p>
            <a:pPr algn="just"/>
            <a:r>
              <a:rPr lang="en-IN" sz="1600" dirty="0"/>
              <a:t>Measures fund performance against the top 50 companies listed on NSE.</a:t>
            </a:r>
          </a:p>
          <a:p>
            <a:pPr algn="just"/>
            <a:r>
              <a:rPr lang="en-IN" sz="1600" b="1" dirty="0"/>
              <a:t>2.Nifty 100 Benchmark</a:t>
            </a:r>
            <a:endParaRPr lang="en-IN" sz="1600" dirty="0"/>
          </a:p>
          <a:p>
            <a:pPr algn="just"/>
            <a:r>
              <a:rPr lang="en-IN" sz="1600" dirty="0"/>
              <a:t>Provides broader market comparison across the top 100 companies.</a:t>
            </a:r>
          </a:p>
          <a:p>
            <a:pPr algn="just"/>
            <a:r>
              <a:rPr lang="en-IN" sz="1600" b="1" dirty="0"/>
              <a:t>3.Alpha Analysis</a:t>
            </a:r>
            <a:endParaRPr lang="en-IN" sz="1600" dirty="0"/>
          </a:p>
          <a:p>
            <a:pPr algn="just"/>
            <a:r>
              <a:rPr lang="en-IN" sz="1600" dirty="0"/>
              <a:t>Measures excess return generated beyond benchmark expectations.</a:t>
            </a:r>
          </a:p>
          <a:p>
            <a:pPr algn="just"/>
            <a:r>
              <a:rPr lang="en-IN" sz="1600" b="1" dirty="0"/>
              <a:t>4.Tracking Performance</a:t>
            </a:r>
            <a:endParaRPr lang="en-IN" sz="1600" dirty="0"/>
          </a:p>
          <a:p>
            <a:pPr algn="just"/>
            <a:r>
              <a:rPr lang="en-IN" sz="1600" dirty="0" err="1"/>
              <a:t>Analyzes</a:t>
            </a:r>
            <a:r>
              <a:rPr lang="en-IN" sz="1600" dirty="0"/>
              <a:t> consistency of fund returns relative to benchmark movement.</a:t>
            </a:r>
          </a:p>
          <a:p>
            <a:pPr algn="just"/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45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D5632F-EE85-B1B7-5B22-34B71DC732A3}"/>
              </a:ext>
            </a:extLst>
          </p:cNvPr>
          <p:cNvSpPr txBox="1"/>
          <p:nvPr/>
        </p:nvSpPr>
        <p:spPr>
          <a:xfrm>
            <a:off x="3706761" y="267617"/>
            <a:ext cx="4778477" cy="72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Dashboard Overview – Industry &amp; Fund Performance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739407-B741-F5DA-2D28-462EE6A16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" y="1303813"/>
            <a:ext cx="5692879" cy="3523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4F4744-8981-DB56-6080-05F707CC5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020" y="1303813"/>
            <a:ext cx="6164826" cy="35238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1D338B-93D4-F81D-B0F4-30BB7B86047D}"/>
              </a:ext>
            </a:extLst>
          </p:cNvPr>
          <p:cNvSpPr txBox="1"/>
          <p:nvPr/>
        </p:nvSpPr>
        <p:spPr>
          <a:xfrm>
            <a:off x="108155" y="4989945"/>
            <a:ext cx="569287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Industry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KPI cards displaying Total AUM, SIP Inflows, Folios, and Schemes.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Industry AUM trend analysis from 2022–2025.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AMC-wise asset distribution and market share comparison.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High-level view of mutual fund industry growth.</a:t>
            </a:r>
          </a:p>
          <a:p>
            <a:pPr algn="just"/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F908B4-5A66-1997-13CE-AEB3E51A7ED4}"/>
              </a:ext>
            </a:extLst>
          </p:cNvPr>
          <p:cNvSpPr txBox="1"/>
          <p:nvPr/>
        </p:nvSpPr>
        <p:spPr>
          <a:xfrm>
            <a:off x="5919020" y="4989945"/>
            <a:ext cx="60975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Fund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Risk vs Return analysis across fund categories.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Fund scorecard with performance and risk metrics.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NAV trend tracking over time.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Benchmark comparison against major market indices.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Interactive slicers for Fund House, Category, and Plan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60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BCD00E-8CA4-EBC8-1C82-F2812351DC5F}"/>
              </a:ext>
            </a:extLst>
          </p:cNvPr>
          <p:cNvSpPr txBox="1"/>
          <p:nvPr/>
        </p:nvSpPr>
        <p:spPr>
          <a:xfrm>
            <a:off x="3642851" y="264808"/>
            <a:ext cx="49062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Dashboard Overview – Investor Analytics &amp;</a:t>
            </a:r>
          </a:p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SIP Trends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831F1E-A8E7-EAF4-D5D0-E4A5D2C14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60" y="1103325"/>
            <a:ext cx="5878285" cy="3048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904345-0811-DCE7-93B8-D418D917E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58" y="1103325"/>
            <a:ext cx="5896386" cy="30487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914A07-AFCB-3BD8-8F9A-A38AA99E470A}"/>
              </a:ext>
            </a:extLst>
          </p:cNvPr>
          <p:cNvSpPr txBox="1"/>
          <p:nvPr/>
        </p:nvSpPr>
        <p:spPr>
          <a:xfrm>
            <a:off x="305578" y="4547128"/>
            <a:ext cx="53674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Investor Analytics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State-wise transaction analysis.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Age-group based SIP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Transaction type distribution (SIP, Lumpsum, Redemption).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Monthly transaction volume tracking.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9C0353-5C73-B569-5B02-04A2C3D33AC1}"/>
              </a:ext>
            </a:extLst>
          </p:cNvPr>
          <p:cNvSpPr txBox="1"/>
          <p:nvPr/>
        </p:nvSpPr>
        <p:spPr>
          <a:xfrm>
            <a:off x="6173758" y="4547128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SIP &amp; Market Trends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SIP inflows compared with Nifty 50 movement.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Category-wise net inflow analysis.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Top-performing categories by inflows.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Category wise Net Inflow.</a:t>
            </a:r>
          </a:p>
        </p:txBody>
      </p:sp>
    </p:spTree>
    <p:extLst>
      <p:ext uri="{BB962C8B-B14F-4D97-AF65-F5344CB8AC3E}">
        <p14:creationId xmlns:p14="http://schemas.microsoft.com/office/powerpoint/2010/main" val="354570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EFB37D-DC9D-A9CE-CD99-C1B9301C3214}"/>
              </a:ext>
            </a:extLst>
          </p:cNvPr>
          <p:cNvSpPr txBox="1"/>
          <p:nvPr/>
        </p:nvSpPr>
        <p:spPr>
          <a:xfrm>
            <a:off x="783772" y="1061201"/>
            <a:ext cx="994643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algn="just">
              <a:buNone/>
            </a:pPr>
            <a:r>
              <a:rPr lang="en-IN" b="1" dirty="0"/>
              <a:t>1.Industry Growth</a:t>
            </a:r>
            <a:endParaRPr lang="en-IN" dirty="0"/>
          </a:p>
          <a:p>
            <a:pPr algn="just"/>
            <a:r>
              <a:rPr lang="en-IN" dirty="0"/>
              <a:t>Industry AUM increased significantly from 2022–2025, reaching approximately </a:t>
            </a:r>
            <a:r>
              <a:rPr lang="en-IN" b="1" dirty="0"/>
              <a:t>₹12.5 Lakh Crore</a:t>
            </a:r>
            <a:r>
              <a:rPr lang="en-IN" dirty="0"/>
              <a:t>. </a:t>
            </a:r>
          </a:p>
          <a:p>
            <a:pPr algn="just">
              <a:buNone/>
            </a:pPr>
            <a:r>
              <a:rPr lang="en-IN" b="1" dirty="0"/>
              <a:t>2.Strong SIP Participation</a:t>
            </a:r>
            <a:endParaRPr lang="en-IN" dirty="0"/>
          </a:p>
          <a:p>
            <a:pPr algn="just"/>
            <a:r>
              <a:rPr lang="en-IN" dirty="0"/>
              <a:t>Monthly SIP inflows reached an all-time high of </a:t>
            </a:r>
            <a:r>
              <a:rPr lang="en-IN" b="1" dirty="0"/>
              <a:t>₹31K Crore</a:t>
            </a:r>
            <a:r>
              <a:rPr lang="en-IN" dirty="0"/>
              <a:t>, indicating growing retail investor confidence. </a:t>
            </a:r>
          </a:p>
          <a:p>
            <a:pPr algn="just">
              <a:buNone/>
            </a:pPr>
            <a:r>
              <a:rPr lang="en-IN" b="1" dirty="0"/>
              <a:t>3.Market Leadership</a:t>
            </a:r>
            <a:endParaRPr lang="en-IN" dirty="0"/>
          </a:p>
          <a:p>
            <a:pPr algn="just"/>
            <a:r>
              <a:rPr lang="en-IN" dirty="0"/>
              <a:t>SBI Mutual Fund emerged as the leading AMC by Assets Under Management. </a:t>
            </a:r>
          </a:p>
          <a:p>
            <a:pPr algn="just">
              <a:buNone/>
            </a:pPr>
            <a:r>
              <a:rPr lang="en-IN" b="1" dirty="0"/>
              <a:t>4.Risk-Adjusted Performance Matters</a:t>
            </a:r>
            <a:endParaRPr lang="en-IN" dirty="0"/>
          </a:p>
          <a:p>
            <a:pPr algn="just"/>
            <a:r>
              <a:rPr lang="en-IN" dirty="0"/>
              <a:t>Sharpe Ratio, Alpha, and Drawdown analysis showed that high returns alone do not guarantee better investment quality. </a:t>
            </a:r>
          </a:p>
          <a:p>
            <a:pPr algn="just">
              <a:buNone/>
            </a:pPr>
            <a:r>
              <a:rPr lang="en-IN" b="1" dirty="0"/>
              <a:t>5.Investor Participation Expanded</a:t>
            </a:r>
            <a:endParaRPr lang="en-IN" dirty="0"/>
          </a:p>
          <a:p>
            <a:pPr algn="just"/>
            <a:r>
              <a:rPr lang="en-IN" dirty="0"/>
              <a:t>Folio count nearly doubled from </a:t>
            </a:r>
            <a:r>
              <a:rPr lang="en-IN" b="1" dirty="0"/>
              <a:t>13 Cr to 26 Cr</a:t>
            </a:r>
            <a:r>
              <a:rPr lang="en-IN" dirty="0"/>
              <a:t>, reflecting increased mutual fund adoption. </a:t>
            </a:r>
          </a:p>
          <a:p>
            <a:pPr algn="just">
              <a:buNone/>
            </a:pPr>
            <a:r>
              <a:rPr lang="en-IN" b="1" dirty="0"/>
              <a:t>6.Portfolio Diversification</a:t>
            </a:r>
            <a:endParaRPr lang="en-IN" dirty="0"/>
          </a:p>
          <a:p>
            <a:pPr algn="just"/>
            <a:r>
              <a:rPr lang="en-IN" dirty="0"/>
              <a:t>Most equity funds maintained moderate sector concentration with average HHI around </a:t>
            </a:r>
            <a:r>
              <a:rPr lang="en-IN" b="1" dirty="0"/>
              <a:t>0.14</a:t>
            </a:r>
            <a:r>
              <a:rPr lang="en-IN" dirty="0"/>
              <a:t>, indicating reasonable diversification.</a:t>
            </a:r>
          </a:p>
          <a:p>
            <a:r>
              <a:rPr lang="en-IN" b="1" dirty="0"/>
              <a:t>7.Top AMC Performance</a:t>
            </a:r>
            <a:endParaRPr lang="en-IN" dirty="0"/>
          </a:p>
          <a:p>
            <a:r>
              <a:rPr lang="en-IN" dirty="0"/>
              <a:t>SBI Mutual Fund maintained the highest AUM among major fund houses. </a:t>
            </a:r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7488B-EDBC-708D-F345-854B2ED1D422}"/>
              </a:ext>
            </a:extLst>
          </p:cNvPr>
          <p:cNvSpPr txBox="1"/>
          <p:nvPr/>
        </p:nvSpPr>
        <p:spPr>
          <a:xfrm>
            <a:off x="4256703" y="441487"/>
            <a:ext cx="36785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Key Findings </a:t>
            </a:r>
          </a:p>
        </p:txBody>
      </p:sp>
    </p:spTree>
    <p:extLst>
      <p:ext uri="{BB962C8B-B14F-4D97-AF65-F5344CB8AC3E}">
        <p14:creationId xmlns:p14="http://schemas.microsoft.com/office/powerpoint/2010/main" val="3513586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538E7-15D5-12FB-D4EC-21D91CC64324}"/>
              </a:ext>
            </a:extLst>
          </p:cNvPr>
          <p:cNvSpPr txBox="1"/>
          <p:nvPr/>
        </p:nvSpPr>
        <p:spPr>
          <a:xfrm>
            <a:off x="4080588" y="2321004"/>
            <a:ext cx="40308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>
                <a:solidFill>
                  <a:schemeClr val="accent1">
                    <a:lumMod val="75000"/>
                  </a:schemeClr>
                </a:solidFill>
              </a:rPr>
              <a:t>ThankYou</a:t>
            </a:r>
            <a:endParaRPr lang="en-IN" sz="6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354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1005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BLUESTOCK FINTECH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Dhumal</dc:creator>
  <cp:lastModifiedBy>Aniket Dhumal</cp:lastModifiedBy>
  <cp:revision>4</cp:revision>
  <dcterms:created xsi:type="dcterms:W3CDTF">2026-06-13T08:05:39Z</dcterms:created>
  <dcterms:modified xsi:type="dcterms:W3CDTF">2026-06-13T14:46:54Z</dcterms:modified>
</cp:coreProperties>
</file>